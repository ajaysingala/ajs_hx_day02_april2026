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65" r:id="rId7"/>
    <p:sldId id="266" r:id="rId8"/>
    <p:sldId id="258" r:id="rId9"/>
    <p:sldId id="267" r:id="rId10"/>
    <p:sldId id="268" r:id="rId11"/>
    <p:sldId id="259" r:id="rId12"/>
    <p:sldId id="269" r:id="rId13"/>
    <p:sldId id="270" r:id="rId14"/>
    <p:sldId id="271" r:id="rId15"/>
    <p:sldId id="272" r:id="rId16"/>
    <p:sldId id="260" r:id="rId17"/>
    <p:sldId id="282" r:id="rId18"/>
    <p:sldId id="273" r:id="rId19"/>
    <p:sldId id="261" r:id="rId20"/>
    <p:sldId id="278" r:id="rId21"/>
    <p:sldId id="274" r:id="rId22"/>
    <p:sldId id="279" r:id="rId23"/>
    <p:sldId id="280" r:id="rId24"/>
    <p:sldId id="275" r:id="rId25"/>
    <p:sldId id="276" r:id="rId26"/>
    <p:sldId id="281" r:id="rId27"/>
    <p:sldId id="283" r:id="rId28"/>
    <p:sldId id="2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for Leaders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Enterprise AI with 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RAG Fundamentals &amp; Enterprise Use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are powerful,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they don’t “know” your enterprise data</a:t>
            </a:r>
          </a:p>
          <a:p>
            <a:pPr lvl="1"/>
            <a:r>
              <a:rPr lang="en-US" dirty="0"/>
              <a:t>They predict text</a:t>
            </a:r>
          </a:p>
          <a:p>
            <a:endParaRPr lang="en-US" dirty="0"/>
          </a:p>
          <a:p>
            <a:r>
              <a:rPr lang="en-US" b="1" dirty="0"/>
              <a:t>Key challenges:</a:t>
            </a:r>
          </a:p>
          <a:p>
            <a:pPr lvl="1"/>
            <a:r>
              <a:rPr lang="en-US" dirty="0"/>
              <a:t>Hallucination</a:t>
            </a:r>
          </a:p>
          <a:p>
            <a:pPr lvl="1"/>
            <a:r>
              <a:rPr lang="en-US" dirty="0"/>
              <a:t>Grounding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F5A6-422F-7FBD-06C0-D9EADE28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AE75-49B7-3208-A23B-51254C9B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5F02F-4E12-F4D2-EBA9-279D2DE6F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Hallucination</a:t>
            </a:r>
          </a:p>
          <a:p>
            <a:pPr lvl="1"/>
            <a:r>
              <a:rPr lang="en-IN" dirty="0"/>
              <a:t>Confidently wrong answers</a:t>
            </a:r>
          </a:p>
          <a:p>
            <a:pPr lvl="1"/>
            <a:r>
              <a:rPr lang="en-US" dirty="0"/>
              <a:t>Model gives </a:t>
            </a:r>
            <a:r>
              <a:rPr lang="en-US" b="1" dirty="0"/>
              <a:t>plausible but incorrect answers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Happens when: </a:t>
            </a:r>
          </a:p>
          <a:p>
            <a:pPr lvl="2"/>
            <a:r>
              <a:rPr lang="en-US" dirty="0"/>
              <a:t>Data is missing </a:t>
            </a:r>
          </a:p>
          <a:p>
            <a:pPr lvl="2"/>
            <a:r>
              <a:rPr lang="en-US" dirty="0"/>
              <a:t>Question is ambiguous </a:t>
            </a:r>
          </a:p>
          <a:p>
            <a:pPr lvl="2"/>
            <a:r>
              <a:rPr lang="en-US" dirty="0"/>
              <a:t>Model relies only on training data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Prompt: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"What is our company’s refund policy for premium customers?“</a:t>
            </a:r>
          </a:p>
          <a:p>
            <a:pPr lvl="2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LLM (without RAG):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"Premium customers get full refunds within 60 days“</a:t>
            </a:r>
            <a:br>
              <a:rPr lang="en-US" i="1" dirty="0"/>
            </a:br>
            <a:r>
              <a:rPr lang="en-US" dirty="0"/>
              <a:t>(Completely made up)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17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5361-163F-8B29-6D6E-D1AECA4E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C3A5-828C-9E24-2EE9-D3685F6F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B288D-E3B6-226F-59E8-79FD1D6D4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Grounding</a:t>
            </a:r>
          </a:p>
          <a:p>
            <a:pPr lvl="1"/>
            <a:r>
              <a:rPr lang="en-US" b="1" dirty="0"/>
              <a:t>Reality anchoring</a:t>
            </a:r>
          </a:p>
          <a:p>
            <a:pPr lvl="1"/>
            <a:r>
              <a:rPr lang="en-US" dirty="0"/>
              <a:t>Ensuring answers come from </a:t>
            </a:r>
            <a:r>
              <a:rPr lang="en-US" b="1" dirty="0"/>
              <a:t>trusted enterprise sources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Like: policies, SOPs, contracts, audit documents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Same Example with RAG</a:t>
            </a:r>
          </a:p>
          <a:p>
            <a:pPr lvl="1"/>
            <a:r>
              <a:rPr lang="en-US" dirty="0"/>
              <a:t>LLM (with RAG):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"As per policy document v3.2, premium customers are eligible for partial refunds within 30 days.“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7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ADA3-057C-129D-FC6A-A3221ACA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Fine-Tuning (When to Use 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04D4-A108-E222-368C-CD7B373F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Simple Analogy</a:t>
            </a:r>
          </a:p>
          <a:p>
            <a:pPr lvl="1"/>
            <a:r>
              <a:rPr lang="en-US" dirty="0"/>
              <a:t>RAG = Open-book exam </a:t>
            </a:r>
          </a:p>
          <a:p>
            <a:pPr lvl="1"/>
            <a:r>
              <a:rPr lang="en-US" dirty="0"/>
              <a:t>Fine-tuning = Memory training</a:t>
            </a:r>
          </a:p>
          <a:p>
            <a:endParaRPr lang="en-IN" dirty="0"/>
          </a:p>
          <a:p>
            <a:r>
              <a:rPr lang="en-IN" b="1" dirty="0"/>
              <a:t>RAG (Retrieval-Augmented Generation)</a:t>
            </a:r>
          </a:p>
          <a:p>
            <a:pPr lvl="1"/>
            <a:r>
              <a:rPr lang="en-IN" dirty="0"/>
              <a:t>Fetches </a:t>
            </a:r>
            <a:r>
              <a:rPr lang="en-IN" b="1" dirty="0"/>
              <a:t>latest external data at runtime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No need to retrain model </a:t>
            </a:r>
          </a:p>
          <a:p>
            <a:pPr lvl="1"/>
            <a:r>
              <a:rPr lang="en-IN" b="1" dirty="0"/>
              <a:t>Use RAG when:</a:t>
            </a:r>
          </a:p>
          <a:p>
            <a:pPr lvl="2"/>
            <a:r>
              <a:rPr lang="en-IN" dirty="0"/>
              <a:t>Data changes frequently (policies, pricing, regulations) </a:t>
            </a:r>
          </a:p>
          <a:p>
            <a:pPr lvl="2"/>
            <a:r>
              <a:rPr lang="en-IN" dirty="0"/>
              <a:t>Large document repositories </a:t>
            </a:r>
          </a:p>
          <a:p>
            <a:pPr lvl="2"/>
            <a:r>
              <a:rPr lang="en-IN" dirty="0"/>
              <a:t>Need traceability (citations)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Customer support bot pulling answers from:</a:t>
            </a:r>
          </a:p>
          <a:p>
            <a:pPr lvl="3"/>
            <a:r>
              <a:rPr lang="en-IN" dirty="0"/>
              <a:t>Knowledge base </a:t>
            </a:r>
          </a:p>
          <a:p>
            <a:pPr lvl="3"/>
            <a:r>
              <a:rPr lang="en-IN" dirty="0"/>
              <a:t>FAQs </a:t>
            </a:r>
          </a:p>
          <a:p>
            <a:pPr lvl="3"/>
            <a:r>
              <a:rPr lang="en-IN" dirty="0"/>
              <a:t>Policy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03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2C58-B2AE-0715-EE64-4B51907C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9CC9-8CFD-DABB-6ACA-12BE9AB9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Fine-Tuning (When to Use 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CA2CE-62F3-DC3F-D8E5-91B13F03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Fine-Tuning</a:t>
            </a:r>
          </a:p>
          <a:p>
            <a:pPr lvl="1"/>
            <a:r>
              <a:rPr lang="en-US" dirty="0"/>
              <a:t>Trains model on </a:t>
            </a:r>
            <a:r>
              <a:rPr lang="en-US" b="1" dirty="0"/>
              <a:t>specific patterns or behavior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Not ideal for frequently changing data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Use Fine-tuning when:</a:t>
            </a:r>
          </a:p>
          <a:p>
            <a:pPr lvl="2"/>
            <a:r>
              <a:rPr lang="en-US" dirty="0"/>
              <a:t>You want: </a:t>
            </a:r>
          </a:p>
          <a:p>
            <a:pPr lvl="3"/>
            <a:r>
              <a:rPr lang="en-US" dirty="0"/>
              <a:t>Consistent tone (e.g., legal, brand voice) </a:t>
            </a:r>
          </a:p>
          <a:p>
            <a:pPr lvl="3"/>
            <a:r>
              <a:rPr lang="en-US" dirty="0"/>
              <a:t>Structured outputs </a:t>
            </a:r>
          </a:p>
          <a:p>
            <a:pPr lvl="3"/>
            <a:r>
              <a:rPr lang="en-US" dirty="0"/>
              <a:t>Domain-specific reasoning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Training model to: </a:t>
            </a:r>
          </a:p>
          <a:p>
            <a:pPr lvl="3"/>
            <a:r>
              <a:rPr lang="en-US" dirty="0"/>
              <a:t>Write audit summaries in a specific format </a:t>
            </a:r>
          </a:p>
          <a:p>
            <a:pPr lvl="3"/>
            <a:r>
              <a:rPr lang="en-US" dirty="0"/>
              <a:t>Classify insurance claims</a:t>
            </a:r>
          </a:p>
        </p:txBody>
      </p:sp>
    </p:spTree>
    <p:extLst>
      <p:ext uri="{BB962C8B-B14F-4D97-AF65-F5344CB8AC3E}">
        <p14:creationId xmlns:p14="http://schemas.microsoft.com/office/powerpoint/2010/main" val="417261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36A0-D7C0-9138-2253-46615566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DB85-999D-BAB1-FFE2-EC0CE019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vs Fine-Tuning (When to Use 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6A78-64D3-7573-C177-970B727B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Simple Comparison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725637-BE1D-C167-1D5D-867656279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84635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486480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70399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8083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64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freshness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76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812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(sources)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37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Setup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88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shaping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91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46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AB1C-4CD0-25B1-BF3C-C279538A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0459-9A13-9796-A3DF-DCBC6944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Big Picture</a:t>
            </a:r>
          </a:p>
          <a:p>
            <a:pPr lvl="1"/>
            <a:r>
              <a:rPr lang="en-US" dirty="0"/>
              <a:t>RAG = </a:t>
            </a:r>
            <a:r>
              <a:rPr lang="en-US" b="1" dirty="0"/>
              <a:t>Search + Generate</a:t>
            </a:r>
            <a:endParaRPr lang="en-US" dirty="0"/>
          </a:p>
          <a:p>
            <a:endParaRPr lang="en-IN" dirty="0"/>
          </a:p>
          <a:p>
            <a:r>
              <a:rPr lang="en-IN" dirty="0"/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Chunking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Embeddings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Retrieval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Generation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20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9F62-62D5-F27C-19AE-C114C4C3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C8CE-2FAB-BE08-E32F-F74956D4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479E-8EE0-508A-329E-83F65F83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Chunking</a:t>
            </a:r>
          </a:p>
          <a:p>
            <a:pPr lvl="1"/>
            <a:r>
              <a:rPr lang="en-IN" dirty="0"/>
              <a:t>Break large documents into smaller pieces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100-page policy → split into: </a:t>
            </a:r>
          </a:p>
          <a:p>
            <a:pPr lvl="3"/>
            <a:r>
              <a:rPr lang="en-IN" dirty="0"/>
              <a:t>Sections </a:t>
            </a:r>
          </a:p>
          <a:p>
            <a:pPr lvl="3"/>
            <a:r>
              <a:rPr lang="en-IN" dirty="0"/>
              <a:t>Paragraphs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Why?</a:t>
            </a:r>
            <a:br>
              <a:rPr lang="en-IN" dirty="0"/>
            </a:br>
            <a:r>
              <a:rPr lang="en-IN" dirty="0"/>
              <a:t>	LLMs can’t process huge documents at once efficiently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760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6FEC-65B6-5F64-C454-9E87C758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28FB-D193-0EF1-84F1-E89DE733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A403-6E12-5DE7-F49A-101B9CF9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Embeddings</a:t>
            </a:r>
          </a:p>
          <a:p>
            <a:pPr lvl="1"/>
            <a:r>
              <a:rPr lang="en-US" dirty="0"/>
              <a:t>Convert text into </a:t>
            </a:r>
            <a:r>
              <a:rPr lang="en-US" b="1" dirty="0"/>
              <a:t>numerical vectors (meaning representation)</a:t>
            </a:r>
            <a:r>
              <a:rPr lang="en-US" dirty="0"/>
              <a:t>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“refund policy” and “return rules” → similar vectors </a:t>
            </a:r>
          </a:p>
          <a:p>
            <a:pPr lvl="2"/>
            <a:r>
              <a:rPr lang="en-US" dirty="0"/>
              <a:t>This allows </a:t>
            </a:r>
            <a:r>
              <a:rPr lang="en-US" b="1" dirty="0"/>
              <a:t>semantic search</a:t>
            </a:r>
            <a:r>
              <a:rPr lang="en-US" dirty="0"/>
              <a:t>, not just keyword search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62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09A7-C12F-FC12-E094-CAE23DBD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8BFD-EA29-C47B-657A-9010ABF2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D61C-3FA8-B00A-F58D-D202335A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Retrieval</a:t>
            </a:r>
          </a:p>
          <a:p>
            <a:pPr lvl="1"/>
            <a:r>
              <a:rPr lang="en-US" dirty="0"/>
              <a:t>Find </a:t>
            </a:r>
            <a:r>
              <a:rPr lang="en-US" b="1" dirty="0"/>
              <a:t>most relevant chunks</a:t>
            </a:r>
            <a:r>
              <a:rPr lang="en-US" dirty="0"/>
              <a:t> based on user query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Query: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"What is claim settlement time?"</a:t>
            </a:r>
            <a:endParaRPr lang="en-US" dirty="0"/>
          </a:p>
          <a:p>
            <a:pPr lvl="2"/>
            <a:r>
              <a:rPr lang="en-US" dirty="0"/>
              <a:t>System retrieves:</a:t>
            </a:r>
          </a:p>
          <a:p>
            <a:pPr lvl="3"/>
            <a:r>
              <a:rPr lang="en-US" dirty="0"/>
              <a:t>Clause 4.2 from claims document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509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D94A-C2C8-0B0B-BC13-2F14936B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A07B-6E90-66FB-090A-86769207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6A61-966C-105A-A4F7-3291F13F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 Generation</a:t>
            </a:r>
          </a:p>
          <a:p>
            <a:pPr lvl="1"/>
            <a:r>
              <a:rPr lang="en-US" dirty="0"/>
              <a:t>LLM generates answer using: </a:t>
            </a:r>
          </a:p>
          <a:p>
            <a:pPr lvl="2"/>
            <a:r>
              <a:rPr lang="en-US" dirty="0"/>
              <a:t>Retrieved data </a:t>
            </a:r>
          </a:p>
          <a:p>
            <a:pPr lvl="2"/>
            <a:r>
              <a:rPr lang="en-US" dirty="0"/>
              <a:t>User query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 Output</a:t>
            </a:r>
          </a:p>
          <a:p>
            <a:pPr lvl="2"/>
            <a:r>
              <a:rPr lang="en-US" i="1" dirty="0"/>
              <a:t>"According to Clause 4.2, claim settlement takes 7–10 working days.“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518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8AA8-8BED-27D0-E5D5-9217A8D3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Evaluation – Grounded vs Hallucinated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FF52-2AF7-4398-9F44-F5EF3315F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Why it matters</a:t>
            </a:r>
          </a:p>
          <a:p>
            <a:pPr lvl="1"/>
            <a:r>
              <a:rPr lang="en-US" dirty="0"/>
              <a:t>Even with RAG, AI can still:</a:t>
            </a:r>
          </a:p>
          <a:p>
            <a:pPr lvl="1"/>
            <a:r>
              <a:rPr lang="en-US" dirty="0"/>
              <a:t>Misinterpret retrieved data </a:t>
            </a:r>
          </a:p>
          <a:p>
            <a:pPr lvl="1"/>
            <a:r>
              <a:rPr lang="en-US" dirty="0"/>
              <a:t>Combine facts incorrectly </a:t>
            </a:r>
          </a:p>
          <a:p>
            <a:endParaRPr lang="en-US" dirty="0"/>
          </a:p>
          <a:p>
            <a:r>
              <a:rPr lang="en-US" b="1" dirty="0"/>
              <a:t>Grounded Response</a:t>
            </a:r>
          </a:p>
          <a:p>
            <a:pPr lvl="1"/>
            <a:r>
              <a:rPr lang="en-US" dirty="0"/>
              <a:t>Based on retrieved documents </a:t>
            </a:r>
          </a:p>
          <a:p>
            <a:pPr lvl="1"/>
            <a:r>
              <a:rPr lang="en-US" dirty="0"/>
              <a:t>Includes references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marL="914400" lvl="2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"As per HR Policy Section 5.1, employees are eligible for 20 days leave."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Traceable</a:t>
            </a:r>
          </a:p>
          <a:p>
            <a:pPr lvl="2"/>
            <a:r>
              <a:rPr lang="en-US" dirty="0"/>
              <a:t>Verifiable</a:t>
            </a:r>
          </a:p>
          <a:p>
            <a:endParaRPr lang="en-US" dirty="0"/>
          </a:p>
          <a:p>
            <a:r>
              <a:rPr lang="en-US" b="1" dirty="0"/>
              <a:t>Hallucinated Response</a:t>
            </a:r>
          </a:p>
          <a:p>
            <a:pPr lvl="1"/>
            <a:r>
              <a:rPr lang="en-US" dirty="0"/>
              <a:t>No source or incorrect interpretation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marL="457200" lvl="1" indent="0">
              <a:buNone/>
            </a:pPr>
            <a:r>
              <a:rPr lang="en-US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"Employees typically get 25 days leave annually."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2"/>
            <a:r>
              <a:rPr lang="en-US" dirty="0"/>
              <a:t> Sounds reasonable</a:t>
            </a:r>
          </a:p>
          <a:p>
            <a:pPr lvl="2"/>
            <a:r>
              <a:rPr lang="en-US" dirty="0"/>
              <a:t>But not in your policy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211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RAG</a:t>
            </a:r>
          </a:p>
          <a:p>
            <a:r>
              <a:rPr lang="en-US" dirty="0"/>
              <a:t>Embeddings Search</a:t>
            </a:r>
          </a:p>
          <a:p>
            <a:r>
              <a:rPr lang="en-US" dirty="0"/>
              <a:t>RAG Pipeline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60591-FF6C-0AC3-0377-8CE9A21C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DC4742-3D24-FAE0-DDBF-4C813EE8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3C103-9948-FEF6-C6CB-380D247F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Enterprise AI Platforms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27205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BBAC-1227-A489-45E7-E9A968D5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Enterprise Platforms Enable RAG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DF9D-F52E-1906-8D43-230BB940A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RAG is not something you build from scratch every time.</a:t>
            </a:r>
          </a:p>
          <a:p>
            <a:r>
              <a:rPr lang="en-US" dirty="0"/>
              <a:t>Modern enterprise platforms already provide most of the building blocks.</a:t>
            </a:r>
          </a:p>
          <a:p>
            <a:endParaRPr lang="en-US" dirty="0"/>
          </a:p>
          <a:p>
            <a:r>
              <a:rPr lang="en-US" b="1" dirty="0"/>
              <a:t>Analogy</a:t>
            </a:r>
          </a:p>
          <a:p>
            <a:pPr lvl="1"/>
            <a:r>
              <a:rPr lang="en-US" dirty="0"/>
              <a:t>Before cloud → build your own data center </a:t>
            </a:r>
          </a:p>
          <a:p>
            <a:pPr lvl="1"/>
            <a:r>
              <a:rPr lang="en-US" dirty="0"/>
              <a:t>Today → use AWS/Azure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Same shift:</a:t>
            </a:r>
          </a:p>
          <a:p>
            <a:pPr lvl="2"/>
            <a:r>
              <a:rPr lang="en-US" dirty="0"/>
              <a:t>Before → build RAG pipelines manually </a:t>
            </a:r>
          </a:p>
          <a:p>
            <a:pPr lvl="2"/>
            <a:r>
              <a:rPr lang="en-US" dirty="0"/>
              <a:t>Today → </a:t>
            </a:r>
            <a:r>
              <a:rPr lang="en-US" b="1" dirty="0"/>
              <a:t>platforms provide RAG-as-a-service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70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FACA-819C-9F2D-E6B1-B9B16AB9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8617-695C-44FF-9DF9-19A55BB37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Enterprise Platforms Actually Provide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23187-B2B7-5827-E516-927AF64F1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Data Ingestion &amp; Connectors</a:t>
            </a:r>
          </a:p>
          <a:p>
            <a:pPr lvl="1"/>
            <a:r>
              <a:rPr lang="en-IN" dirty="0"/>
              <a:t>Platforms connect directly to enterprise data sources:</a:t>
            </a:r>
          </a:p>
          <a:p>
            <a:pPr lvl="2"/>
            <a:r>
              <a:rPr lang="en-IN" dirty="0"/>
              <a:t>SharePoint </a:t>
            </a:r>
          </a:p>
          <a:p>
            <a:pPr lvl="2"/>
            <a:r>
              <a:rPr lang="en-IN" dirty="0"/>
              <a:t>PDFs, Word docs </a:t>
            </a:r>
          </a:p>
          <a:p>
            <a:pPr lvl="2"/>
            <a:r>
              <a:rPr lang="en-IN" dirty="0"/>
              <a:t>Databases </a:t>
            </a:r>
          </a:p>
          <a:p>
            <a:pPr lvl="2"/>
            <a:r>
              <a:rPr lang="en-IN" dirty="0"/>
              <a:t>CRM / ERP systems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Upload:</a:t>
            </a:r>
          </a:p>
          <a:p>
            <a:pPr lvl="3"/>
            <a:r>
              <a:rPr lang="en-IN" dirty="0"/>
              <a:t>Insurance policy PDFs </a:t>
            </a:r>
          </a:p>
          <a:p>
            <a:pPr lvl="3"/>
            <a:r>
              <a:rPr lang="en-IN" dirty="0"/>
              <a:t>Claims SOPs </a:t>
            </a:r>
          </a:p>
          <a:p>
            <a:pPr lvl="2"/>
            <a:endParaRPr lang="en-IN" dirty="0"/>
          </a:p>
          <a:p>
            <a:pPr lvl="2"/>
            <a:r>
              <a:rPr lang="en-IN" dirty="0"/>
              <a:t>Platform automatically:</a:t>
            </a:r>
          </a:p>
          <a:p>
            <a:pPr lvl="3"/>
            <a:r>
              <a:rPr lang="en-IN" dirty="0"/>
              <a:t>Reads </a:t>
            </a:r>
          </a:p>
          <a:p>
            <a:pPr lvl="3"/>
            <a:r>
              <a:rPr lang="en-IN" dirty="0"/>
              <a:t>Indexes </a:t>
            </a:r>
          </a:p>
          <a:p>
            <a:pPr lvl="3"/>
            <a:r>
              <a:rPr lang="en-IN" dirty="0"/>
              <a:t>Prepares for search</a:t>
            </a:r>
          </a:p>
        </p:txBody>
      </p:sp>
    </p:spTree>
    <p:extLst>
      <p:ext uri="{BB962C8B-B14F-4D97-AF65-F5344CB8AC3E}">
        <p14:creationId xmlns:p14="http://schemas.microsoft.com/office/powerpoint/2010/main" val="3006233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0C801-9039-776B-8677-A50D2C24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1109-4A83-1DC2-BEDA-87EE9240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Enterprise Platforms Actually Provide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AADB3-ED0D-530D-C700-603777979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Automatic Chunking + Embeddings</a:t>
            </a:r>
          </a:p>
          <a:p>
            <a:pPr lvl="1"/>
            <a:r>
              <a:rPr lang="en-IN" dirty="0"/>
              <a:t>No need to manually split documents or create vectors</a:t>
            </a:r>
          </a:p>
          <a:p>
            <a:pPr lvl="1"/>
            <a:r>
              <a:rPr lang="en-IN" dirty="0"/>
              <a:t>Platform does:</a:t>
            </a:r>
          </a:p>
          <a:p>
            <a:pPr lvl="2"/>
            <a:r>
              <a:rPr lang="en-IN" dirty="0"/>
              <a:t>Chunking (splitting documents) </a:t>
            </a:r>
          </a:p>
          <a:p>
            <a:pPr lvl="2"/>
            <a:r>
              <a:rPr lang="en-IN" dirty="0"/>
              <a:t>Embeddings (semantic representation) 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Example</a:t>
            </a:r>
          </a:p>
          <a:p>
            <a:pPr lvl="2"/>
            <a:r>
              <a:rPr lang="en-IN" dirty="0"/>
              <a:t>You upload a 200-page audit manual → platform:</a:t>
            </a:r>
          </a:p>
          <a:p>
            <a:pPr lvl="3"/>
            <a:r>
              <a:rPr lang="en-IN" dirty="0"/>
              <a:t>Breaks into sections </a:t>
            </a:r>
          </a:p>
          <a:p>
            <a:pPr lvl="3"/>
            <a:r>
              <a:rPr lang="en-IN" dirty="0"/>
              <a:t>Makes it searchable by meaning </a:t>
            </a:r>
          </a:p>
          <a:p>
            <a:pPr lvl="2"/>
            <a:endParaRPr lang="en-IN" dirty="0"/>
          </a:p>
          <a:p>
            <a:pPr lvl="2"/>
            <a:r>
              <a:rPr lang="en-IN" dirty="0"/>
              <a:t>Leaders don’t need to understand vectors—just outcome:</a:t>
            </a:r>
          </a:p>
          <a:p>
            <a:pPr marL="914400" lvl="2" indent="0">
              <a:buNone/>
            </a:pPr>
            <a:r>
              <a:rPr lang="en-IN" b="1" dirty="0"/>
              <a:t>	“Search becomes intelligent, not keyword-based”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23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E10A-73F1-C7F4-4D8E-D86DEF9C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CDF8-AFEA-1543-607A-FE63D947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Enterprise Platforms Actually Provide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CBCCF-E2ED-662A-0262-E3715ABD2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Retrieval Engine (Semantic Search)</a:t>
            </a:r>
          </a:p>
          <a:p>
            <a:pPr lvl="1"/>
            <a:r>
              <a:rPr lang="en-US" dirty="0"/>
              <a:t>Core of RAG:</a:t>
            </a:r>
          </a:p>
          <a:p>
            <a:pPr lvl="2"/>
            <a:r>
              <a:rPr lang="en-US" dirty="0"/>
              <a:t>Finds relevant information based on </a:t>
            </a:r>
            <a:r>
              <a:rPr lang="en-US" b="1" dirty="0"/>
              <a:t>meaning</a:t>
            </a:r>
            <a:r>
              <a:rPr lang="en-US" dirty="0"/>
              <a:t> </a:t>
            </a:r>
          </a:p>
          <a:p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User asks:</a:t>
            </a:r>
          </a:p>
          <a:p>
            <a:pPr marL="914400" lvl="2" indent="0">
              <a:buNone/>
            </a:pPr>
            <a:r>
              <a:rPr lang="en-US" i="1" dirty="0"/>
              <a:t>"What are fraud detection controls?"</a:t>
            </a:r>
            <a:endParaRPr lang="en-US" dirty="0"/>
          </a:p>
          <a:p>
            <a:pPr lvl="2"/>
            <a:r>
              <a:rPr lang="en-US" dirty="0"/>
              <a:t>Platform retrieves:</a:t>
            </a:r>
          </a:p>
          <a:p>
            <a:pPr lvl="3"/>
            <a:r>
              <a:rPr lang="en-US" dirty="0"/>
              <a:t>Relevant clauses from audit manuals </a:t>
            </a:r>
          </a:p>
          <a:p>
            <a:pPr lvl="3"/>
            <a:r>
              <a:rPr lang="en-US" dirty="0"/>
              <a:t>Even if exact words don’t match</a:t>
            </a:r>
          </a:p>
        </p:txBody>
      </p:sp>
    </p:spTree>
    <p:extLst>
      <p:ext uri="{BB962C8B-B14F-4D97-AF65-F5344CB8AC3E}">
        <p14:creationId xmlns:p14="http://schemas.microsoft.com/office/powerpoint/2010/main" val="649468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16BF-9034-8974-FA6C-97BF178B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117E-AFD1-25CE-51F9-E1BA3C40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Enterprise Platforms Actually Provide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60AA5-1AD9-228E-8548-6B4B5A14A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LLM + Grounded Generation</a:t>
            </a:r>
          </a:p>
          <a:p>
            <a:pPr lvl="1"/>
            <a:r>
              <a:rPr lang="en-US" dirty="0"/>
              <a:t>Platform combines:</a:t>
            </a:r>
          </a:p>
          <a:p>
            <a:pPr lvl="2"/>
            <a:r>
              <a:rPr lang="en-US" dirty="0"/>
              <a:t>Retrieved data </a:t>
            </a:r>
          </a:p>
          <a:p>
            <a:pPr lvl="2"/>
            <a:r>
              <a:rPr lang="en-US" dirty="0"/>
              <a:t>LLM reasoning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Output:</a:t>
            </a:r>
          </a:p>
          <a:p>
            <a:pPr lvl="2"/>
            <a:r>
              <a:rPr lang="en-US" dirty="0"/>
              <a:t>Context-aware </a:t>
            </a:r>
          </a:p>
          <a:p>
            <a:pPr lvl="2"/>
            <a:r>
              <a:rPr lang="en-US" dirty="0"/>
              <a:t>Source-backed answers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Example</a:t>
            </a:r>
          </a:p>
          <a:p>
            <a:pPr marL="457200" lvl="1" indent="0">
              <a:buNone/>
            </a:pPr>
            <a:r>
              <a:rPr lang="en-US" i="1" dirty="0"/>
              <a:t>"As per Section 3.2 of Fraud Policy..."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021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B59F6-02A1-5756-9F06-4A3ADB0A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0EA8-2EAB-AC27-D40D-89196604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Platforms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5785A-F7A6-B74F-9BB3-452ED1961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Foundry</a:t>
            </a:r>
          </a:p>
          <a:p>
            <a:r>
              <a:rPr lang="en-US" dirty="0"/>
              <a:t>Copilot 365</a:t>
            </a:r>
          </a:p>
          <a:p>
            <a:r>
              <a:rPr lang="en-US" dirty="0"/>
              <a:t>Google Vertex AI</a:t>
            </a:r>
          </a:p>
          <a:p>
            <a:r>
              <a:rPr lang="en-US" dirty="0"/>
              <a:t>AWS Bedrock + Knowledge Bases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21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2355B-E841-4993-4196-ED667BA9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B0E4-69EE-4D52-A8FF-65C8DD47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Governance &amp; Security 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C024-13D3-4CB6-E2DA-C0544681A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Enterprise platforms add:</a:t>
            </a:r>
          </a:p>
          <a:p>
            <a:pPr lvl="1"/>
            <a:r>
              <a:rPr lang="en-US" b="1" dirty="0"/>
              <a:t>Access Control</a:t>
            </a:r>
          </a:p>
          <a:p>
            <a:pPr lvl="2"/>
            <a:r>
              <a:rPr lang="en-US" dirty="0"/>
              <a:t>Users only see what they are allowed to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Monitoring</a:t>
            </a:r>
          </a:p>
          <a:p>
            <a:pPr lvl="2"/>
            <a:r>
              <a:rPr lang="en-US" dirty="0"/>
              <a:t>Track: </a:t>
            </a:r>
          </a:p>
          <a:p>
            <a:pPr lvl="3"/>
            <a:r>
              <a:rPr lang="en-US" dirty="0"/>
              <a:t>Queries </a:t>
            </a:r>
          </a:p>
          <a:p>
            <a:pPr lvl="3"/>
            <a:r>
              <a:rPr lang="en-US" dirty="0"/>
              <a:t>Usage </a:t>
            </a:r>
          </a:p>
          <a:p>
            <a:pPr lvl="3"/>
            <a:r>
              <a:rPr lang="en-US" dirty="0"/>
              <a:t>Accuracy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Compliance</a:t>
            </a:r>
          </a:p>
          <a:p>
            <a:pPr lvl="2"/>
            <a:r>
              <a:rPr lang="en-US" dirty="0"/>
              <a:t>Data stays within: </a:t>
            </a:r>
          </a:p>
          <a:p>
            <a:pPr lvl="3"/>
            <a:r>
              <a:rPr lang="en-US" dirty="0"/>
              <a:t>Organization boundaries </a:t>
            </a:r>
          </a:p>
          <a:p>
            <a:pPr lvl="3"/>
            <a:r>
              <a:rPr lang="en-US" dirty="0"/>
              <a:t>Regulatory frameworks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988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544-B4E5-918C-C026-67E1613E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09BD-0097-87EB-F5B4-C2D1395F6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Foundry -&gt; Prompt Workflow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423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E9196-8361-A04E-8140-9D812400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A035E-A60A-4CF5-EFDD-D2EF30DD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 one internal knowledge system to </a:t>
            </a:r>
            <a:r>
              <a:rPr lang="en-US"/>
              <a:t>RAG approach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438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857</Words>
  <Application>Microsoft Office PowerPoint</Application>
  <PresentationFormat>Widescreen</PresentationFormat>
  <Paragraphs>248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Cascadia Code</vt:lpstr>
      <vt:lpstr>Neue Haas Grotesk Text Pro</vt:lpstr>
      <vt:lpstr>Office Theme</vt:lpstr>
      <vt:lpstr>1_Office Theme</vt:lpstr>
      <vt:lpstr>Agentic AI for Leaders</vt:lpstr>
      <vt:lpstr>Enterprise AI with RAG</vt:lpstr>
      <vt:lpstr>RAG Fundamentals &amp; Enterprise Use</vt:lpstr>
      <vt:lpstr>Enterprise Challenges</vt:lpstr>
      <vt:lpstr>Enterprise Challenges</vt:lpstr>
      <vt:lpstr>Enterprise Challenges</vt:lpstr>
      <vt:lpstr>RAG vs Fine-Tuning (When to Use What)</vt:lpstr>
      <vt:lpstr>RAG vs Fine-Tuning (When to Use What)</vt:lpstr>
      <vt:lpstr>RAG vs Fine-Tuning (When to Use What)</vt:lpstr>
      <vt:lpstr>RAG Pipeline</vt:lpstr>
      <vt:lpstr>RAG Pipeline</vt:lpstr>
      <vt:lpstr>RAG Pipeline</vt:lpstr>
      <vt:lpstr>RAG Pipeline</vt:lpstr>
      <vt:lpstr>RAG Pipeline</vt:lpstr>
      <vt:lpstr>Output Evaluation – Grounded vs Hallucinated</vt:lpstr>
      <vt:lpstr>Demo</vt:lpstr>
      <vt:lpstr>Enterprise AI Platforms</vt:lpstr>
      <vt:lpstr>How Enterprise Platforms Enable RAG</vt:lpstr>
      <vt:lpstr>What Enterprise Platforms Actually Provide</vt:lpstr>
      <vt:lpstr>What Enterprise Platforms Actually Provide</vt:lpstr>
      <vt:lpstr>What Enterprise Platforms Actually Provide</vt:lpstr>
      <vt:lpstr>What Enterprise Platforms Actually Provide</vt:lpstr>
      <vt:lpstr>Enterprise Platforms</vt:lpstr>
      <vt:lpstr>Governance &amp; Security Angle</vt:lpstr>
      <vt:lpstr>Demo</vt:lpstr>
      <vt:lpstr>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19</cp:revision>
  <dcterms:created xsi:type="dcterms:W3CDTF">2026-04-01T13:32:53Z</dcterms:created>
  <dcterms:modified xsi:type="dcterms:W3CDTF">2026-04-02T14:07:08Z</dcterms:modified>
</cp:coreProperties>
</file>